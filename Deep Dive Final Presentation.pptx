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Q2iLLyLmGFhQcgD9g8lGXH+yU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441004-BC09-46E9-8670-B31FA8DCCA6A}">
  <a:tblStyle styleId="{4E441004-BC09-46E9-8670-B31FA8DCCA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customschemas.google.com/relationships/presentationmetadata" Target="meta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165881c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a6165881c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6165881cd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165881cd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6165881c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6165881c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6165881cd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a6165881cd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6165881cd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f578b1ce9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f578b1ce9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f578b1ce9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f578b1ce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f578b1ce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f578b1ce9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6165881cd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6165881cd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6165881cd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f578b1ce9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f578b1ce9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f578b1ce9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 showMasterSp="0">
  <p:cSld name="5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769954"/>
            <a:ext cx="2800928" cy="727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type="ctrTitle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" name="Google Shape;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8"/>
          <p:cNvSpPr/>
          <p:nvPr>
            <p:ph idx="2" type="pic"/>
          </p:nvPr>
        </p:nvSpPr>
        <p:spPr>
          <a:xfrm>
            <a:off x="7078130" y="995819"/>
            <a:ext cx="5113870" cy="586535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 showMasterSp="0">
  <p:cSld name="8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type="ctrTitle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/>
          <p:nvPr>
            <p:ph idx="2" type="pic"/>
          </p:nvPr>
        </p:nvSpPr>
        <p:spPr>
          <a:xfrm>
            <a:off x="7078130" y="995819"/>
            <a:ext cx="5114840" cy="586535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36" name="Google Shape;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769954"/>
            <a:ext cx="2800928" cy="72789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30"/>
          <p:cNvSpPr/>
          <p:nvPr>
            <p:ph idx="2" type="pic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3598696" y="2337014"/>
            <a:ext cx="7460731" cy="3021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1"/>
          <p:cNvSpPr/>
          <p:nvPr>
            <p:ph idx="2" type="pic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49" name="Google Shape;49;p31"/>
          <p:cNvSpPr txBox="1"/>
          <p:nvPr>
            <p:ph idx="1" type="body"/>
          </p:nvPr>
        </p:nvSpPr>
        <p:spPr>
          <a:xfrm>
            <a:off x="566738" y="5197475"/>
            <a:ext cx="2674937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>
                <a:solidFill>
                  <a:srgbClr val="13294B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/>
          <p:nvPr>
            <p:ph idx="3" type="pic"/>
          </p:nvPr>
        </p:nvSpPr>
        <p:spPr>
          <a:xfrm>
            <a:off x="3926145" y="2337014"/>
            <a:ext cx="2674937" cy="267335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1" name="Google Shape;51;p31"/>
          <p:cNvSpPr txBox="1"/>
          <p:nvPr>
            <p:ph idx="4" type="body"/>
          </p:nvPr>
        </p:nvSpPr>
        <p:spPr>
          <a:xfrm>
            <a:off x="3925955" y="5197475"/>
            <a:ext cx="2674937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>
                <a:solidFill>
                  <a:srgbClr val="13294B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1"/>
          <p:cNvSpPr/>
          <p:nvPr>
            <p:ph idx="5" type="pic"/>
          </p:nvPr>
        </p:nvSpPr>
        <p:spPr>
          <a:xfrm>
            <a:off x="7291796" y="2337014"/>
            <a:ext cx="2674937" cy="267335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3" name="Google Shape;53;p31"/>
          <p:cNvSpPr txBox="1"/>
          <p:nvPr>
            <p:ph idx="6" type="body"/>
          </p:nvPr>
        </p:nvSpPr>
        <p:spPr>
          <a:xfrm>
            <a:off x="7291606" y="5197475"/>
            <a:ext cx="2674937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>
                <a:solidFill>
                  <a:srgbClr val="13294B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566928" y="2185416"/>
            <a:ext cx="6951472" cy="387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>
  <p:cSld name="Title and Double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566928" y="2185416"/>
            <a:ext cx="4500372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2" type="body"/>
          </p:nvPr>
        </p:nvSpPr>
        <p:spPr>
          <a:xfrm>
            <a:off x="5410200" y="2185416"/>
            <a:ext cx="4498848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" type="body"/>
          </p:nvPr>
        </p:nvSpPr>
        <p:spPr>
          <a:xfrm>
            <a:off x="566928" y="2185416"/>
            <a:ext cx="513892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rgbClr val="13294B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34"/>
          <p:cNvSpPr txBox="1"/>
          <p:nvPr>
            <p:ph idx="2" type="body"/>
          </p:nvPr>
        </p:nvSpPr>
        <p:spPr>
          <a:xfrm>
            <a:off x="566928" y="2593340"/>
            <a:ext cx="5140515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Arial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3" type="body"/>
          </p:nvPr>
        </p:nvSpPr>
        <p:spPr>
          <a:xfrm>
            <a:off x="6172200" y="2185416"/>
            <a:ext cx="5138928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rgbClr val="13294B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34"/>
          <p:cNvSpPr txBox="1"/>
          <p:nvPr>
            <p:ph idx="4" type="body"/>
          </p:nvPr>
        </p:nvSpPr>
        <p:spPr>
          <a:xfrm>
            <a:off x="6172200" y="2590800"/>
            <a:ext cx="5138928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Arial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and Photo">
  <p:cSld name="2_Content and Photo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5"/>
          <p:cNvSpPr txBox="1"/>
          <p:nvPr>
            <p:ph type="title"/>
          </p:nvPr>
        </p:nvSpPr>
        <p:spPr>
          <a:xfrm>
            <a:off x="566928" y="1499616"/>
            <a:ext cx="5002598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" type="body"/>
          </p:nvPr>
        </p:nvSpPr>
        <p:spPr>
          <a:xfrm>
            <a:off x="566927" y="2185416"/>
            <a:ext cx="5002599" cy="35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5"/>
          <p:cNvSpPr/>
          <p:nvPr>
            <p:ph idx="2" type="pic"/>
          </p:nvPr>
        </p:nvSpPr>
        <p:spPr>
          <a:xfrm flipH="1">
            <a:off x="6096000" y="1"/>
            <a:ext cx="6096000" cy="6858000"/>
          </a:xfrm>
          <a:prstGeom prst="round1Rect">
            <a:avLst>
              <a:gd fmla="val 0" name="adj"/>
            </a:avLst>
          </a:prstGeom>
          <a:solidFill>
            <a:srgbClr val="BFBFBF"/>
          </a:solidFill>
          <a:ln>
            <a:noFill/>
          </a:ln>
        </p:spPr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/>
          <p:nvPr>
            <p:ph type="title"/>
          </p:nvPr>
        </p:nvSpPr>
        <p:spPr>
          <a:xfrm>
            <a:off x="566928" y="932946"/>
            <a:ext cx="110378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36"/>
          <p:cNvSpPr txBox="1"/>
          <p:nvPr>
            <p:ph idx="1" type="body"/>
          </p:nvPr>
        </p:nvSpPr>
        <p:spPr>
          <a:xfrm>
            <a:off x="2632264" y="1770116"/>
            <a:ext cx="6907212" cy="3021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880"/>
              <a:buNone/>
              <a:defRPr b="0" i="1" sz="2400"/>
            </a:lvl1pPr>
            <a:lvl2pPr indent="-228600" lvl="1" marL="9144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6"/>
          <p:cNvSpPr txBox="1"/>
          <p:nvPr/>
        </p:nvSpPr>
        <p:spPr>
          <a:xfrm>
            <a:off x="1958290" y="1336743"/>
            <a:ext cx="78201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0" u="none" cap="none" strike="noStrike">
                <a:solidFill>
                  <a:srgbClr val="FF552E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6"/>
          <p:cNvSpPr txBox="1"/>
          <p:nvPr/>
        </p:nvSpPr>
        <p:spPr>
          <a:xfrm rot="10800000">
            <a:off x="9438549" y="3337289"/>
            <a:ext cx="78201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0" u="none" cap="none" strike="noStrike">
                <a:solidFill>
                  <a:srgbClr val="FF552E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6"/>
          <p:cNvSpPr txBox="1"/>
          <p:nvPr>
            <p:ph idx="2" type="body"/>
          </p:nvPr>
        </p:nvSpPr>
        <p:spPr>
          <a:xfrm>
            <a:off x="3942745" y="5086703"/>
            <a:ext cx="4286250" cy="407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6"/>
          <p:cNvSpPr/>
          <p:nvPr/>
        </p:nvSpPr>
        <p:spPr>
          <a:xfrm>
            <a:off x="5807075" y="4918714"/>
            <a:ext cx="577850" cy="8356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7"/>
          <p:cNvSpPr/>
          <p:nvPr>
            <p:ph idx="2" type="pic"/>
          </p:nvPr>
        </p:nvSpPr>
        <p:spPr>
          <a:xfrm>
            <a:off x="5114631" y="0"/>
            <a:ext cx="7077369" cy="3426796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7"/>
          <p:cNvSpPr/>
          <p:nvPr>
            <p:ph idx="3" type="pic"/>
          </p:nvPr>
        </p:nvSpPr>
        <p:spPr>
          <a:xfrm>
            <a:off x="5114631" y="3429000"/>
            <a:ext cx="3602522" cy="3426796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7"/>
          <p:cNvSpPr/>
          <p:nvPr>
            <p:ph idx="4" type="pic"/>
          </p:nvPr>
        </p:nvSpPr>
        <p:spPr>
          <a:xfrm>
            <a:off x="8701089" y="3429000"/>
            <a:ext cx="3490912" cy="3426796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7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8"/>
          <p:cNvSpPr/>
          <p:nvPr>
            <p:ph idx="2" type="pic"/>
          </p:nvPr>
        </p:nvSpPr>
        <p:spPr>
          <a:xfrm>
            <a:off x="7078130" y="995819"/>
            <a:ext cx="5113870" cy="586535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98" name="Google Shape;98;p38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and Photo">
  <p:cSld name="1_Content and Phot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9"/>
          <p:cNvSpPr txBox="1"/>
          <p:nvPr>
            <p:ph type="title"/>
          </p:nvPr>
        </p:nvSpPr>
        <p:spPr>
          <a:xfrm>
            <a:off x="566928" y="1499616"/>
            <a:ext cx="5002598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" type="body"/>
          </p:nvPr>
        </p:nvSpPr>
        <p:spPr>
          <a:xfrm>
            <a:off x="566927" y="2185416"/>
            <a:ext cx="5002599" cy="35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0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0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40"/>
          <p:cNvSpPr txBox="1"/>
          <p:nvPr>
            <p:ph type="title"/>
          </p:nvPr>
        </p:nvSpPr>
        <p:spPr>
          <a:xfrm>
            <a:off x="566928" y="1499616"/>
            <a:ext cx="110378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41"/>
          <p:cNvSpPr/>
          <p:nvPr>
            <p:ph idx="2" type="chart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1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showMasterSp="0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2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1" name="Google Shape;1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888985"/>
            <a:ext cx="3542157" cy="6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2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 showMasterSp="0">
  <p:cSld name="4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3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6000"/>
              <a:buFont typeface="Arial"/>
              <a:buNone/>
              <a:defRPr b="1" i="0" sz="6000" cap="none">
                <a:solidFill>
                  <a:srgbClr val="FF5F0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6" name="Google Shape;1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3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 showMasterSp="0">
  <p:cSld name="6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4"/>
          <p:cNvSpPr txBox="1"/>
          <p:nvPr>
            <p:ph idx="1" type="body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type="ctrTitle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/>
          <p:nvPr>
            <p:ph idx="2" type="pic"/>
          </p:nvPr>
        </p:nvSpPr>
        <p:spPr>
          <a:xfrm flipH="1">
            <a:off x="7078130" y="995819"/>
            <a:ext cx="5113867" cy="5862181"/>
          </a:xfrm>
          <a:prstGeom prst="round1Rect">
            <a:avLst>
              <a:gd fmla="val 16667" name="adj"/>
            </a:avLst>
          </a:prstGeom>
          <a:solidFill>
            <a:srgbClr val="BFBFBF"/>
          </a:solidFill>
          <a:ln>
            <a:noFill/>
          </a:ln>
        </p:spPr>
      </p:sp>
      <p:pic>
        <p:nvPicPr>
          <p:cNvPr id="132" name="Google Shape;1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769954"/>
            <a:ext cx="2800928" cy="727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4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5"/>
          <p:cNvSpPr txBox="1"/>
          <p:nvPr>
            <p:ph idx="1" type="body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45"/>
          <p:cNvSpPr txBox="1"/>
          <p:nvPr>
            <p:ph type="ctrTitle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7" name="Google Shape;13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2075" y="1883736"/>
            <a:ext cx="6167849" cy="1060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5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 showMasterSp="0">
  <p:cSld name="7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6"/>
          <p:cNvSpPr txBox="1"/>
          <p:nvPr>
            <p:ph idx="1" type="body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46"/>
          <p:cNvSpPr txBox="1"/>
          <p:nvPr>
            <p:ph type="ctrTitle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2" name="Google Shape;14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829" y="1751626"/>
            <a:ext cx="5096339" cy="1324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6"/>
          <p:cNvSpPr txBox="1"/>
          <p:nvPr>
            <p:ph idx="12" type="sldNum"/>
          </p:nvPr>
        </p:nvSpPr>
        <p:spPr>
          <a:xfrm>
            <a:off x="11409045" y="6333134"/>
            <a:ext cx="731700" cy="29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7"/>
          <p:cNvSpPr txBox="1"/>
          <p:nvPr>
            <p:ph type="title"/>
          </p:nvPr>
        </p:nvSpPr>
        <p:spPr>
          <a:xfrm>
            <a:off x="566928" y="1499616"/>
            <a:ext cx="110378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7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7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566928" y="1499616"/>
            <a:ext cx="110378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5F0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566928" y="2185416"/>
            <a:ext cx="110378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Arial"/>
              <a:buNone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/>
          <p:nvPr/>
        </p:nvSpPr>
        <p:spPr>
          <a:xfrm>
            <a:off x="549831" y="6174376"/>
            <a:ext cx="3446775" cy="683623"/>
          </a:xfrm>
          <a:prstGeom prst="round1Rect">
            <a:avLst>
              <a:gd fmla="val 33439" name="adj"/>
            </a:avLst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orange letter on a blue background&#10;&#10;Description automatically generated" id="13" name="Google Shape;1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174377"/>
            <a:ext cx="549831" cy="683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5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use-land-property-data.service.gov.uk/" TargetMode="External"/><Relationship Id="rId4" Type="http://schemas.openxmlformats.org/officeDocument/2006/relationships/hyperlink" Target="https://use-land-property-data.service.gov.uk/" TargetMode="External"/><Relationship Id="rId5" Type="http://schemas.openxmlformats.org/officeDocument/2006/relationships/hyperlink" Target="https://epc.opendatacommunities.org/?utm_source=chatgpt.com" TargetMode="External"/><Relationship Id="rId6" Type="http://schemas.openxmlformats.org/officeDocument/2006/relationships/hyperlink" Target="https://epc.opendatacommunities.org/" TargetMode="External"/><Relationship Id="rId7" Type="http://schemas.openxmlformats.org/officeDocument/2006/relationships/hyperlink" Target="https://data.london.gov.uk/dataset/" TargetMode="External"/><Relationship Id="rId8" Type="http://schemas.openxmlformats.org/officeDocument/2006/relationships/hyperlink" Target="https://data.london.gov.uk/dataset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>
            <p:ph type="ctrTitle"/>
          </p:nvPr>
        </p:nvSpPr>
        <p:spPr>
          <a:xfrm>
            <a:off x="658367" y="1490472"/>
            <a:ext cx="6816489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London </a:t>
            </a:r>
            <a:r>
              <a:rPr lang="en-US"/>
              <a:t>House Price</a:t>
            </a:r>
            <a:endParaRPr/>
          </a:p>
        </p:txBody>
      </p:sp>
      <p:sp>
        <p:nvSpPr>
          <p:cNvPr id="154" name="Google Shape;154;p1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Deep Dive 12: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Perry Huang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Yiqiu Song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/>
          <p:nvPr>
            <p:ph type="ctrTitle"/>
          </p:nvPr>
        </p:nvSpPr>
        <p:spPr>
          <a:xfrm>
            <a:off x="658372" y="1490475"/>
            <a:ext cx="35505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Category</a:t>
            </a:r>
            <a:endParaRPr/>
          </a:p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p2"/>
          <p:cNvSpPr txBox="1"/>
          <p:nvPr>
            <p:ph idx="1" type="body"/>
          </p:nvPr>
        </p:nvSpPr>
        <p:spPr>
          <a:xfrm>
            <a:off x="4317125" y="981750"/>
            <a:ext cx="7800900" cy="49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4419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Char char="●"/>
            </a:pPr>
            <a:r>
              <a:rPr b="1" lang="en-US"/>
              <a:t>Introduction</a:t>
            </a:r>
            <a:r>
              <a:rPr b="1" lang="en-US"/>
              <a:t> (Milestone 1)</a:t>
            </a:r>
            <a:endParaRPr b="1"/>
          </a:p>
          <a:p>
            <a:pPr indent="-4419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Char char="●"/>
            </a:pPr>
            <a:r>
              <a:rPr b="1" lang="en-US"/>
              <a:t>Data </a:t>
            </a:r>
            <a:r>
              <a:rPr b="1" lang="en-US"/>
              <a:t>and </a:t>
            </a:r>
            <a:r>
              <a:rPr b="1" lang="en-US"/>
              <a:t>Model </a:t>
            </a:r>
            <a:r>
              <a:rPr b="1" lang="en-US"/>
              <a:t>(Milestone 2, 3)</a:t>
            </a:r>
            <a:endParaRPr b="1"/>
          </a:p>
          <a:p>
            <a:pPr indent="-4419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Char char="●"/>
            </a:pPr>
            <a:r>
              <a:rPr b="1" lang="en-US"/>
              <a:t>Results and Conclusion</a:t>
            </a:r>
            <a:r>
              <a:rPr b="1" lang="en-US"/>
              <a:t> (Milestone 4, 5)</a:t>
            </a:r>
            <a:endParaRPr b="1"/>
          </a:p>
        </p:txBody>
      </p:sp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11234478" y="6354827"/>
            <a:ext cx="3723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6165881cd_0_70"/>
          <p:cNvSpPr txBox="1"/>
          <p:nvPr>
            <p:ph type="ctrTitle"/>
          </p:nvPr>
        </p:nvSpPr>
        <p:spPr>
          <a:xfrm>
            <a:off x="658368" y="1490472"/>
            <a:ext cx="5784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69" name="Google Shape;169;g3a6165881cd_0_70"/>
          <p:cNvSpPr txBox="1"/>
          <p:nvPr>
            <p:ph idx="1" type="body"/>
          </p:nvPr>
        </p:nvSpPr>
        <p:spPr>
          <a:xfrm>
            <a:off x="658368" y="3968496"/>
            <a:ext cx="57840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Milestone 1</a:t>
            </a:r>
            <a:endParaRPr/>
          </a:p>
        </p:txBody>
      </p:sp>
      <p:sp>
        <p:nvSpPr>
          <p:cNvPr id="170" name="Google Shape;170;g3a6165881cd_0_70"/>
          <p:cNvSpPr txBox="1"/>
          <p:nvPr>
            <p:ph idx="12" type="sldNum"/>
          </p:nvPr>
        </p:nvSpPr>
        <p:spPr>
          <a:xfrm>
            <a:off x="11234478" y="6354827"/>
            <a:ext cx="3723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77" name="Google Shape;177;p5"/>
          <p:cNvSpPr txBox="1"/>
          <p:nvPr>
            <p:ph idx="1" type="body"/>
          </p:nvPr>
        </p:nvSpPr>
        <p:spPr>
          <a:xfrm>
            <a:off x="5062125" y="2356200"/>
            <a:ext cx="6451800" cy="3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</a:pPr>
            <a:r>
              <a:rPr lang="en-US"/>
              <a:t>London’s housing market is one of the most dynamic and expensive in the world. Prices change quickly across districts and even within the same post-code </a:t>
            </a:r>
            <a:r>
              <a:rPr baseline="30000" lang="en-US"/>
              <a:t>1</a:t>
            </a:r>
            <a:r>
              <a:rPr lang="en-US"/>
              <a:t>. 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Recurrent Neural Network (</a:t>
            </a:r>
            <a:r>
              <a:rPr lang="en-US"/>
              <a:t>RNN) is widely used for sequential and time-dependent prediction tasks. It outperforms classical models when past patterns influence the future.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25" y="2464150"/>
            <a:ext cx="3495050" cy="289417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4814550" y="6118225"/>
            <a:ext cx="63453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1. Sivitanides, P. S. (2018). Macroeconomic drivers of London house prices.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Journal of Property Investment &amp; Finance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36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(6), 539-551.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81" name="Google Shape;181;p5"/>
          <p:cNvSpPr txBox="1"/>
          <p:nvPr>
            <p:ph idx="11" type="ftr"/>
          </p:nvPr>
        </p:nvSpPr>
        <p:spPr>
          <a:xfrm>
            <a:off x="725391" y="6356350"/>
            <a:ext cx="309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Perry Huang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165881cd_0_28"/>
          <p:cNvSpPr txBox="1"/>
          <p:nvPr>
            <p:ph type="title"/>
          </p:nvPr>
        </p:nvSpPr>
        <p:spPr>
          <a:xfrm>
            <a:off x="566928" y="1499616"/>
            <a:ext cx="6951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88" name="Google Shape;188;g3a6165881cd_0_28"/>
          <p:cNvSpPr txBox="1"/>
          <p:nvPr>
            <p:ph idx="11" type="ftr"/>
          </p:nvPr>
        </p:nvSpPr>
        <p:spPr>
          <a:xfrm>
            <a:off x="725391" y="6356350"/>
            <a:ext cx="309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Perry Huang</a:t>
            </a:r>
            <a:endParaRPr/>
          </a:p>
        </p:txBody>
      </p:sp>
      <p:sp>
        <p:nvSpPr>
          <p:cNvPr id="189" name="Google Shape;189;g3a6165881cd_0_28"/>
          <p:cNvSpPr txBox="1"/>
          <p:nvPr>
            <p:ph idx="1" type="body"/>
          </p:nvPr>
        </p:nvSpPr>
        <p:spPr>
          <a:xfrm>
            <a:off x="5067650" y="2337025"/>
            <a:ext cx="59919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</a:pPr>
            <a:r>
              <a:rPr lang="en-US"/>
              <a:t>We aim to examine how London housing prices change over time, including whether past prices influence future prices and how nearby areas may affect one another.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190" name="Google Shape;190;g3a6165881cd_0_28"/>
          <p:cNvSpPr txBox="1"/>
          <p:nvPr>
            <p:ph idx="12" type="sldNum"/>
          </p:nvPr>
        </p:nvSpPr>
        <p:spPr>
          <a:xfrm>
            <a:off x="11234478" y="6354827"/>
            <a:ext cx="372300" cy="27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g3a6165881cd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25" y="2464150"/>
            <a:ext cx="3495050" cy="289417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165881cd_0_64"/>
          <p:cNvSpPr txBox="1"/>
          <p:nvPr>
            <p:ph type="ctrTitle"/>
          </p:nvPr>
        </p:nvSpPr>
        <p:spPr>
          <a:xfrm>
            <a:off x="658368" y="1490472"/>
            <a:ext cx="5784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Data and Model</a:t>
            </a:r>
            <a:endParaRPr/>
          </a:p>
        </p:txBody>
      </p:sp>
      <p:sp>
        <p:nvSpPr>
          <p:cNvPr id="198" name="Google Shape;198;g3a6165881cd_0_64"/>
          <p:cNvSpPr txBox="1"/>
          <p:nvPr>
            <p:ph idx="1" type="body"/>
          </p:nvPr>
        </p:nvSpPr>
        <p:spPr>
          <a:xfrm>
            <a:off x="658368" y="3968496"/>
            <a:ext cx="57840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Milestone 2, 3</a:t>
            </a:r>
            <a:endParaRPr/>
          </a:p>
        </p:txBody>
      </p:sp>
      <p:sp>
        <p:nvSpPr>
          <p:cNvPr id="199" name="Google Shape;199;g3a6165881cd_0_64"/>
          <p:cNvSpPr txBox="1"/>
          <p:nvPr>
            <p:ph idx="12" type="sldNum"/>
          </p:nvPr>
        </p:nvSpPr>
        <p:spPr>
          <a:xfrm>
            <a:off x="11234478" y="6354827"/>
            <a:ext cx="3723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f578b1ce9_0_22"/>
          <p:cNvSpPr txBox="1"/>
          <p:nvPr>
            <p:ph type="title"/>
          </p:nvPr>
        </p:nvSpPr>
        <p:spPr>
          <a:xfrm>
            <a:off x="436678" y="602591"/>
            <a:ext cx="6951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Sources (Overview)</a:t>
            </a:r>
            <a:endParaRPr/>
          </a:p>
        </p:txBody>
      </p:sp>
      <p:sp>
        <p:nvSpPr>
          <p:cNvPr id="206" name="Google Shape;206;g3af578b1ce9_0_22"/>
          <p:cNvSpPr txBox="1"/>
          <p:nvPr>
            <p:ph idx="12" type="sldNum"/>
          </p:nvPr>
        </p:nvSpPr>
        <p:spPr>
          <a:xfrm>
            <a:off x="11234478" y="6354827"/>
            <a:ext cx="372300" cy="27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g3af578b1ce9_0_22"/>
          <p:cNvSpPr txBox="1"/>
          <p:nvPr>
            <p:ph idx="1" type="body"/>
          </p:nvPr>
        </p:nvSpPr>
        <p:spPr>
          <a:xfrm>
            <a:off x="347250" y="1388950"/>
            <a:ext cx="6400800" cy="462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</a:rPr>
              <a:t>1. UK Land Registry — Price Paid Dataset (PPD)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The UK Land Registry Price Paid Dataset (PPD) contains detailed </a:t>
            </a:r>
            <a:r>
              <a:rPr lang="en-US" sz="1500">
                <a:solidFill>
                  <a:srgbClr val="FF0000"/>
                </a:solidFill>
              </a:rPr>
              <a:t>records of all property transactions</a:t>
            </a:r>
            <a:r>
              <a:rPr lang="en-US" sz="1500">
                <a:solidFill>
                  <a:srgbClr val="000000"/>
                </a:solidFill>
              </a:rPr>
              <a:t>, including price, property type, tenure, new-build status, location, postcode, and date.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</a:rPr>
              <a:t>2. EPC (Energy Performance Certificate) Data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EPC data provides structural characteristics of homes at the postcode level, such as </a:t>
            </a:r>
            <a:r>
              <a:rPr lang="en-US" sz="1500">
                <a:solidFill>
                  <a:srgbClr val="FF0000"/>
                </a:solidFill>
              </a:rPr>
              <a:t>average floor area and number of rooms</a:t>
            </a:r>
            <a:r>
              <a:rPr lang="en-US" sz="1500">
                <a:solidFill>
                  <a:srgbClr val="000000"/>
                </a:solidFill>
              </a:rPr>
              <a:t>. It captures key </a:t>
            </a:r>
            <a:r>
              <a:rPr lang="en-US" sz="1500" u="sng">
                <a:solidFill>
                  <a:srgbClr val="000000"/>
                </a:solidFill>
              </a:rPr>
              <a:t>physical housing attributes that help explain price differences</a:t>
            </a:r>
            <a:r>
              <a:rPr lang="en-US" sz="1500">
                <a:solidFill>
                  <a:srgbClr val="000000"/>
                </a:solidFill>
              </a:rPr>
              <a:t>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</a:rPr>
              <a:t>3. London Datastore — Macroeconomic Indicators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London Datastore provides key </a:t>
            </a:r>
            <a:r>
              <a:rPr lang="en-US" sz="1500">
                <a:solidFill>
                  <a:srgbClr val="FF0000"/>
                </a:solidFill>
              </a:rPr>
              <a:t>macroeconomic indicators</a:t>
            </a:r>
            <a:r>
              <a:rPr lang="en-US" sz="1500">
                <a:solidFill>
                  <a:srgbClr val="000000"/>
                </a:solidFill>
              </a:rPr>
              <a:t>—such as </a:t>
            </a:r>
            <a:r>
              <a:rPr lang="en-US" sz="1500">
                <a:solidFill>
                  <a:srgbClr val="FF0000"/>
                </a:solidFill>
              </a:rPr>
              <a:t>population, earnings, economic inactivity</a:t>
            </a:r>
            <a:r>
              <a:rPr lang="en-US" sz="1500">
                <a:solidFill>
                  <a:srgbClr val="000000"/>
                </a:solidFill>
              </a:rPr>
              <a:t>, price-to-earnings ratios, and demographic pressure—that reflect affordability and broader economic conditions across London boroughs. </a:t>
            </a:r>
            <a:endParaRPr sz="2200"/>
          </a:p>
        </p:txBody>
      </p:sp>
      <p:pic>
        <p:nvPicPr>
          <p:cNvPr id="208" name="Google Shape;208;g3af578b1ce9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051" y="753976"/>
            <a:ext cx="5278476" cy="20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af578b1ce9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912" y="2835475"/>
            <a:ext cx="4920625" cy="270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af578b1ce9_0_22"/>
          <p:cNvSpPr txBox="1"/>
          <p:nvPr/>
        </p:nvSpPr>
        <p:spPr>
          <a:xfrm>
            <a:off x="8021175" y="5540375"/>
            <a:ext cx="321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94B"/>
                </a:solidFill>
              </a:rPr>
              <a:t>Figure 1. Median house price time series and house price/earning ratio</a:t>
            </a:r>
            <a:endParaRPr sz="1300">
              <a:solidFill>
                <a:srgbClr val="13294B"/>
              </a:solidFill>
            </a:endParaRPr>
          </a:p>
        </p:txBody>
      </p:sp>
      <p:sp>
        <p:nvSpPr>
          <p:cNvPr id="211" name="Google Shape;211;g3af578b1ce9_0_22"/>
          <p:cNvSpPr txBox="1"/>
          <p:nvPr/>
        </p:nvSpPr>
        <p:spPr>
          <a:xfrm>
            <a:off x="535325" y="62648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By Yiqiu Song and Perry Huang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f578b1ce9_0_39"/>
          <p:cNvSpPr txBox="1"/>
          <p:nvPr>
            <p:ph idx="1" type="body"/>
          </p:nvPr>
        </p:nvSpPr>
        <p:spPr>
          <a:xfrm>
            <a:off x="86800" y="591000"/>
            <a:ext cx="5222400" cy="306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 Includes several engineered features</a:t>
            </a:r>
            <a:endParaRPr b="1"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log_price</a:t>
            </a:r>
            <a:r>
              <a:rPr lang="en-US" sz="1400">
                <a:solidFill>
                  <a:srgbClr val="000000"/>
                </a:solidFill>
              </a:rPr>
              <a:t> – reduces right-skew in price distributions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Momentum features</a:t>
            </a:r>
            <a:r>
              <a:rPr lang="en-US" sz="1400">
                <a:solidFill>
                  <a:srgbClr val="000000"/>
                </a:solidFill>
              </a:rPr>
              <a:t> – 3-month &amp; 6-month rolling log price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Lag features</a:t>
            </a:r>
            <a:r>
              <a:rPr lang="en-US" sz="1400">
                <a:solidFill>
                  <a:srgbClr val="000000"/>
                </a:solidFill>
              </a:rPr>
              <a:t> – previous 1, 2, and 3 months’ price levels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Seasonality features</a:t>
            </a:r>
            <a:r>
              <a:rPr lang="en-US" sz="1400">
                <a:solidFill>
                  <a:srgbClr val="000000"/>
                </a:solidFill>
              </a:rPr>
              <a:t> – month_sin and month_cos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These engineered features play a critical role</a:t>
            </a:r>
            <a:endParaRPr b="1"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Momentum and lag features become </a:t>
            </a:r>
            <a:r>
              <a:rPr b="1" lang="en-US" sz="1400">
                <a:solidFill>
                  <a:srgbClr val="000000"/>
                </a:solidFill>
              </a:rPr>
              <a:t>the top predictors</a:t>
            </a:r>
            <a:r>
              <a:rPr lang="en-US" sz="1400">
                <a:solidFill>
                  <a:srgbClr val="000000"/>
                </a:solidFill>
              </a:rPr>
              <a:t> in the final </a:t>
            </a:r>
            <a:r>
              <a:rPr lang="en-US" sz="14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Long Short-Term Memory (</a:t>
            </a:r>
            <a:r>
              <a:rPr lang="en-US" sz="1400">
                <a:solidFill>
                  <a:srgbClr val="000000"/>
                </a:solidFill>
              </a:rPr>
              <a:t>LSTM) model </a:t>
            </a:r>
            <a:r>
              <a:rPr baseline="30000" lang="en-US" sz="1400">
                <a:solidFill>
                  <a:srgbClr val="000000"/>
                </a:solidFill>
              </a:rPr>
              <a:t>2</a:t>
            </a:r>
            <a:r>
              <a:rPr lang="en-U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They help the model capture </a:t>
            </a:r>
            <a:r>
              <a:rPr b="1" lang="en-US" sz="1400">
                <a:solidFill>
                  <a:srgbClr val="000000"/>
                </a:solidFill>
              </a:rPr>
              <a:t>trend persistence</a:t>
            </a:r>
            <a:r>
              <a:rPr lang="en-US" sz="1400">
                <a:solidFill>
                  <a:srgbClr val="000000"/>
                </a:solidFill>
              </a:rPr>
              <a:t> and </a:t>
            </a:r>
            <a:r>
              <a:rPr b="1" lang="en-US" sz="1400">
                <a:solidFill>
                  <a:srgbClr val="000000"/>
                </a:solidFill>
              </a:rPr>
              <a:t>temporal dependence</a:t>
            </a:r>
            <a:r>
              <a:rPr lang="en-US" sz="1400">
                <a:solidFill>
                  <a:srgbClr val="000000"/>
                </a:solidFill>
              </a:rPr>
              <a:t> across London districts.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f578b1ce9_0_39"/>
          <p:cNvSpPr txBox="1"/>
          <p:nvPr>
            <p:ph type="title"/>
          </p:nvPr>
        </p:nvSpPr>
        <p:spPr>
          <a:xfrm>
            <a:off x="304803" y="-9"/>
            <a:ext cx="6951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</a:pPr>
            <a:r>
              <a:rPr lang="en-US"/>
              <a:t>Data sample</a:t>
            </a:r>
            <a:endParaRPr/>
          </a:p>
        </p:txBody>
      </p:sp>
      <p:sp>
        <p:nvSpPr>
          <p:cNvPr id="219" name="Google Shape;219;g3af578b1ce9_0_39"/>
          <p:cNvSpPr txBox="1"/>
          <p:nvPr>
            <p:ph idx="12" type="sldNum"/>
          </p:nvPr>
        </p:nvSpPr>
        <p:spPr>
          <a:xfrm>
            <a:off x="11234478" y="6354827"/>
            <a:ext cx="372300" cy="27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g3af578b1ce9_0_39"/>
          <p:cNvPicPr preferRelativeResize="0"/>
          <p:nvPr/>
        </p:nvPicPr>
        <p:blipFill rotWithShape="1">
          <a:blip r:embed="rId3">
            <a:alphaModFix/>
          </a:blip>
          <a:srcRect b="25009" l="0" r="0" t="0"/>
          <a:stretch/>
        </p:blipFill>
        <p:spPr>
          <a:xfrm>
            <a:off x="2853200" y="3660500"/>
            <a:ext cx="9063398" cy="18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af578b1ce9_0_39"/>
          <p:cNvSpPr txBox="1"/>
          <p:nvPr/>
        </p:nvSpPr>
        <p:spPr>
          <a:xfrm>
            <a:off x="535325" y="62648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By Yiqiu Song and Perry Huang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22" name="Google Shape;222;g3af578b1ce9_0_39"/>
          <p:cNvSpPr txBox="1"/>
          <p:nvPr/>
        </p:nvSpPr>
        <p:spPr>
          <a:xfrm>
            <a:off x="6677825" y="5472475"/>
            <a:ext cx="3213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94B"/>
                </a:solidFill>
              </a:rPr>
              <a:t>Figure 2. Variables for model and a sample data</a:t>
            </a:r>
            <a:endParaRPr sz="1300">
              <a:solidFill>
                <a:srgbClr val="13294B"/>
              </a:solidFill>
            </a:endParaRPr>
          </a:p>
        </p:txBody>
      </p:sp>
      <p:graphicFrame>
        <p:nvGraphicFramePr>
          <p:cNvPr id="223" name="Google Shape;223;g3af578b1ce9_0_39"/>
          <p:cNvGraphicFramePr/>
          <p:nvPr/>
        </p:nvGraphicFramePr>
        <p:xfrm>
          <a:off x="52456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{4E441004-BC09-46E9-8670-B31FA8DCCA6A}</a:tableStyleId>
              </a:tblPr>
              <a:tblGrid>
                <a:gridCol w="1670975"/>
                <a:gridCol w="4877475"/>
              </a:tblGrid>
              <a:tr h="44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Source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 Included in Final Data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Paid Dataset (PPD)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month_date,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log_price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price_paid, txn_count,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month_sin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month_cos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property_type_</a:t>
                      </a:r>
                      <a:r>
                        <a:rPr i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new_build_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tenure_</a:t>
                      </a:r>
                      <a:r>
                        <a:rPr i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transaction_category_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lag1, lag2, lag3,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area_log_price_3m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area_log_price_6m</a:t>
                      </a:r>
                      <a:endParaRPr sz="1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EPC Data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avg_area, avg_rooms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London Datastore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Population, Live_Births, Median_Annual_Earnings, Inactivity_Rate_Percent, HP_Residence_Ratio, HP_Workplace_Ratio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g3af578b1ce9_0_39"/>
          <p:cNvSpPr txBox="1"/>
          <p:nvPr/>
        </p:nvSpPr>
        <p:spPr>
          <a:xfrm>
            <a:off x="5362225" y="5988975"/>
            <a:ext cx="58722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2. 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Bouktif, S., Fiaz, A., Ouni, A., &amp; Serhani, M. A. (2018). Optimal deep learning lstm model for electric load forecasting using feature selection and genetic algorithm: Comparison with machine learning approaches.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Energies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11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(7), 1636.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/>
          <p:nvPr>
            <p:ph type="title"/>
          </p:nvPr>
        </p:nvSpPr>
        <p:spPr>
          <a:xfrm>
            <a:off x="407775" y="371096"/>
            <a:ext cx="69516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00"/>
                </a:solidFill>
              </a:rPr>
              <a:t>Technical Challenges &amp; Why We Use LSTM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>
            <p:ph idx="1" type="body"/>
          </p:nvPr>
        </p:nvSpPr>
        <p:spPr>
          <a:xfrm>
            <a:off x="407775" y="1128525"/>
            <a:ext cx="11119200" cy="4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</a:rPr>
              <a:t>1. Multi-source data integration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We needed to merge PPD, EPC, and macroeconomic datasets, which come in different formats and update frequencies. This required substantial cleaning and careful alignment before analysis.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</a:rPr>
              <a:t>2. Large raw data but small training set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Although the raw dataset contained </a:t>
            </a:r>
            <a:r>
              <a:rPr lang="en-US" sz="1500">
                <a:solidFill>
                  <a:srgbClr val="000000"/>
                </a:solidFill>
              </a:rPr>
              <a:t>over</a:t>
            </a:r>
            <a:r>
              <a:rPr lang="en-US" sz="1500">
                <a:solidFill>
                  <a:srgbClr val="000000"/>
                </a:solidFill>
              </a:rPr>
              <a:t> 690,000 transactions, aggregation reduced it to only about 15,000 monthly observations. This limited training size required careful model design to avoid overfitting.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</a:rPr>
              <a:t>3. Time-series leakage prevention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Each postcode follows its own chronological pattern, so we had to keep the sequence strictly intact. The train–test split was performed only in time order to prevent leakage.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</a:rPr>
              <a:t>Why LSTM?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Housing prices exhibit strong temporal dependence with momentum and lag effects. LSTM models handle sequential patterns better than other deep learning methods for ordered time-series data.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232" name="Google Shape;232;p7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35325" y="62648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By Yiqiu Song and Perry Huang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6165881cd_0_83"/>
          <p:cNvSpPr txBox="1"/>
          <p:nvPr>
            <p:ph type="ctrTitle"/>
          </p:nvPr>
        </p:nvSpPr>
        <p:spPr>
          <a:xfrm>
            <a:off x="658368" y="1490472"/>
            <a:ext cx="5784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Results &amp; Conclusion</a:t>
            </a:r>
            <a:endParaRPr/>
          </a:p>
        </p:txBody>
      </p:sp>
      <p:sp>
        <p:nvSpPr>
          <p:cNvPr id="240" name="Google Shape;240;g3a6165881cd_0_83"/>
          <p:cNvSpPr txBox="1"/>
          <p:nvPr>
            <p:ph idx="1" type="body"/>
          </p:nvPr>
        </p:nvSpPr>
        <p:spPr>
          <a:xfrm>
            <a:off x="658368" y="3968496"/>
            <a:ext cx="57840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Milestone 4, 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>
            <p:ph type="title"/>
          </p:nvPr>
        </p:nvSpPr>
        <p:spPr>
          <a:xfrm>
            <a:off x="566925" y="245957"/>
            <a:ext cx="1013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Results &amp; Conclusions </a:t>
            </a:r>
            <a:endParaRPr sz="4700"/>
          </a:p>
        </p:txBody>
      </p:sp>
      <p:sp>
        <p:nvSpPr>
          <p:cNvPr id="247" name="Google Shape;247;p8"/>
          <p:cNvSpPr txBox="1"/>
          <p:nvPr>
            <p:ph idx="1" type="body"/>
          </p:nvPr>
        </p:nvSpPr>
        <p:spPr>
          <a:xfrm>
            <a:off x="217025" y="676750"/>
            <a:ext cx="65397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1. Prices follow momentum.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Recent 3–6 month trends are the strongest predictors, meaning markets rarely reverse suddenly.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2. Housing markets show inertia.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T</a:t>
            </a:r>
            <a:r>
              <a:rPr lang="en-US" sz="1200">
                <a:solidFill>
                  <a:srgbClr val="000000"/>
                </a:solidFill>
              </a:rPr>
              <a:t>oday’s price conditions strongly shape next month’s outcomes, and neighbouring areas influence each other.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3. Affordability limits long-term growth.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Areas where prices rise faster than incomes eventually slow down — crucial for buyers and policymakers.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4. Property characteristics influence baseline value.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Larger homes and more rooms matter, but they do not drive month-to-month price changes.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5. Macro &amp; demographic factors matter less in the short term.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Population and birth trends shape long-term planning rather than monthly price movements.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248" name="Google Shape;248;p8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Yiqiu Song and Perry Huang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0" name="Google Shape;2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732" y="1073375"/>
            <a:ext cx="5247943" cy="35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 txBox="1"/>
          <p:nvPr/>
        </p:nvSpPr>
        <p:spPr>
          <a:xfrm>
            <a:off x="8021175" y="4596325"/>
            <a:ext cx="321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94B"/>
                </a:solidFill>
              </a:rPr>
              <a:t>Figure 3. Top 20 important features</a:t>
            </a:r>
            <a:endParaRPr sz="1300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f578b1ce9_0_76"/>
          <p:cNvSpPr txBox="1"/>
          <p:nvPr>
            <p:ph type="title"/>
          </p:nvPr>
        </p:nvSpPr>
        <p:spPr>
          <a:xfrm>
            <a:off x="566928" y="255341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Chose Our Model</a:t>
            </a:r>
            <a:endParaRPr/>
          </a:p>
        </p:txBody>
      </p:sp>
      <p:sp>
        <p:nvSpPr>
          <p:cNvPr id="258" name="Google Shape;258;g3af578b1ce9_0_76"/>
          <p:cNvSpPr txBox="1"/>
          <p:nvPr>
            <p:ph idx="1" type="body"/>
          </p:nvPr>
        </p:nvSpPr>
        <p:spPr>
          <a:xfrm>
            <a:off x="436700" y="1244977"/>
            <a:ext cx="4500300" cy="491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Strong accuracy at borough level:</a:t>
            </a:r>
            <a:br>
              <a:rPr b="1"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 Mean Absolute Percentage Error (</a:t>
            </a:r>
            <a:r>
              <a:rPr b="1" lang="en-US" sz="1400">
                <a:solidFill>
                  <a:srgbClr val="000000"/>
                </a:solidFill>
              </a:rPr>
              <a:t>MAPE ≈ 17%</a:t>
            </a:r>
            <a:r>
              <a:rPr lang="en-US" sz="1400">
                <a:solidFill>
                  <a:srgbClr val="000000"/>
                </a:solidFill>
              </a:rPr>
              <a:t>) — suitable for high-level housing market forecasting.</a:t>
            </a:r>
            <a:br>
              <a:rPr lang="en-US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Reasonable absolute error range:</a:t>
            </a:r>
            <a:br>
              <a:rPr b="1"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 Median Absolute Error (</a:t>
            </a:r>
            <a:r>
              <a:rPr b="1" lang="en-US" sz="1400">
                <a:solidFill>
                  <a:srgbClr val="000000"/>
                </a:solidFill>
              </a:rPr>
              <a:t>≈ £56,800</a:t>
            </a:r>
            <a:r>
              <a:rPr lang="en-US" sz="1400">
                <a:solidFill>
                  <a:srgbClr val="000000"/>
                </a:solidFill>
              </a:rPr>
              <a:t>), reflecting the typical deviation between predicted and actual prices.</a:t>
            </a:r>
            <a:br>
              <a:rPr lang="en-US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Captures market dynamics effectively:</a:t>
            </a:r>
            <a:br>
              <a:rPr b="1"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 LSTM learns </a:t>
            </a:r>
            <a:r>
              <a:rPr b="1" lang="en-US" sz="1400">
                <a:solidFill>
                  <a:srgbClr val="000000"/>
                </a:solidFill>
              </a:rPr>
              <a:t>lagged price patterns</a:t>
            </a:r>
            <a:r>
              <a:rPr lang="en-US" sz="1400">
                <a:solidFill>
                  <a:srgbClr val="000000"/>
                </a:solidFill>
              </a:rPr>
              <a:t> and </a:t>
            </a:r>
            <a:r>
              <a:rPr b="1" lang="en-US" sz="1400">
                <a:solidFill>
                  <a:srgbClr val="000000"/>
                </a:solidFill>
              </a:rPr>
              <a:t>3–6 month momentum</a:t>
            </a:r>
            <a:r>
              <a:rPr lang="en-US" sz="1400">
                <a:solidFill>
                  <a:srgbClr val="000000"/>
                </a:solidFill>
              </a:rPr>
              <a:t>, which improves prediction stability.</a:t>
            </a:r>
            <a:br>
              <a:rPr lang="en-US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</a:rPr>
              <a:t>Consistent trend reproduction:</a:t>
            </a:r>
            <a:br>
              <a:rPr b="1"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 The model tracks </a:t>
            </a:r>
            <a:r>
              <a:rPr b="1" lang="en-US" sz="1400">
                <a:solidFill>
                  <a:srgbClr val="000000"/>
                </a:solidFill>
              </a:rPr>
              <a:t>overall price trends</a:t>
            </a:r>
            <a:r>
              <a:rPr lang="en-US" sz="1400">
                <a:solidFill>
                  <a:srgbClr val="000000"/>
                </a:solidFill>
              </a:rPr>
              <a:t> over time, showing reliable directional forecasting even during volatility.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US" sz="1100">
                <a:solidFill>
                  <a:srgbClr val="000000"/>
                </a:solidFill>
              </a:rPr>
            </a:br>
            <a:r>
              <a:rPr b="1" lang="en-US" sz="1600">
                <a:solidFill>
                  <a:schemeClr val="lt1"/>
                </a:solidFill>
              </a:rPr>
              <a:t>By Yiqiu Song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f578b1ce9_0_76"/>
          <p:cNvSpPr txBox="1"/>
          <p:nvPr>
            <p:ph idx="12" type="sldNum"/>
          </p:nvPr>
        </p:nvSpPr>
        <p:spPr>
          <a:xfrm>
            <a:off x="11234478" y="6354827"/>
            <a:ext cx="372300" cy="27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g3af578b1ce9_0_76"/>
          <p:cNvSpPr txBox="1"/>
          <p:nvPr>
            <p:ph idx="1" type="body"/>
          </p:nvPr>
        </p:nvSpPr>
        <p:spPr>
          <a:xfrm>
            <a:off x="6096000" y="2308900"/>
            <a:ext cx="4263300" cy="392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Helps users make actionable decisions</a:t>
            </a:r>
            <a:endParaRPr b="1"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Investors → evaluate short-term price momentum.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Developers → identify boroughs with rising demand.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Policymakers → track affordability pressures across time.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Buyers → understand whether an area is trending up/down.</a:t>
            </a:r>
            <a:br>
              <a:rPr lang="en-US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US" sz="1100">
                <a:solidFill>
                  <a:srgbClr val="000000"/>
                </a:solidFill>
              </a:rPr>
            </a:b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3600"/>
              <a:buFont typeface="Arial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267" name="Google Shape;267;p9"/>
          <p:cNvSpPr txBox="1"/>
          <p:nvPr>
            <p:ph idx="1" type="body"/>
          </p:nvPr>
        </p:nvSpPr>
        <p:spPr>
          <a:xfrm>
            <a:off x="566925" y="2185425"/>
            <a:ext cx="10743300" cy="19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Sivitanides, P. S. (2018). Macroeconomic drivers of London house prices. </a:t>
            </a:r>
            <a:r>
              <a:rPr i="1" lang="en-US" sz="1300">
                <a:solidFill>
                  <a:srgbClr val="222222"/>
                </a:solidFill>
                <a:highlight>
                  <a:srgbClr val="FFFFFF"/>
                </a:highlight>
              </a:rPr>
              <a:t>Journal of Property Investment &amp; Finance</a:t>
            </a: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US" sz="1300">
                <a:solidFill>
                  <a:srgbClr val="222222"/>
                </a:solidFill>
                <a:highlight>
                  <a:srgbClr val="FFFFFF"/>
                </a:highlight>
              </a:rPr>
              <a:t>36</a:t>
            </a: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(6), 539-551.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</a:rPr>
              <a:t>Land Registry. (n.d.). </a:t>
            </a:r>
            <a:r>
              <a:rPr i="1" lang="en-US" sz="1300">
                <a:solidFill>
                  <a:srgbClr val="000000"/>
                </a:solidFill>
              </a:rPr>
              <a:t>Use-land-property-data service</a:t>
            </a:r>
            <a:r>
              <a:rPr lang="en-US" sz="1300">
                <a:solidFill>
                  <a:srgbClr val="000000"/>
                </a:solidFill>
              </a:rPr>
              <a:t>.</a:t>
            </a:r>
            <a:r>
              <a:rPr lang="en-US" sz="1300">
                <a:solidFill>
                  <a:srgbClr val="0000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300" u="sng">
                <a:solidFill>
                  <a:schemeClr val="hlink"/>
                </a:solidFill>
                <a:hlinkClick r:id="rId4"/>
              </a:rPr>
              <a:t>https://use-land-property-data.service.gov.uk/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</a:rPr>
              <a:t>Open Data Communities. (n.d.). </a:t>
            </a:r>
            <a:r>
              <a:rPr i="1" lang="en-US" sz="1300">
                <a:solidFill>
                  <a:srgbClr val="000000"/>
                </a:solidFill>
              </a:rPr>
              <a:t>Energy Performance Certificates (EPC) data</a:t>
            </a:r>
            <a:r>
              <a:rPr lang="en-US" sz="1300">
                <a:solidFill>
                  <a:srgbClr val="000000"/>
                </a:solidFill>
              </a:rPr>
              <a:t>.</a:t>
            </a:r>
            <a:r>
              <a:rPr lang="en-US" sz="1300">
                <a:solidFill>
                  <a:srgbClr val="000000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300" u="sng">
                <a:solidFill>
                  <a:schemeClr val="hlink"/>
                </a:solidFill>
                <a:hlinkClick r:id="rId6"/>
              </a:rPr>
              <a:t>https://epc.opendatacommunities.org/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</a:rPr>
              <a:t>Greater London Authority. (n.d.). </a:t>
            </a:r>
            <a:r>
              <a:rPr i="1" lang="en-US" sz="1300">
                <a:solidFill>
                  <a:srgbClr val="000000"/>
                </a:solidFill>
              </a:rPr>
              <a:t>London datasets</a:t>
            </a:r>
            <a:r>
              <a:rPr lang="en-US" sz="1300">
                <a:solidFill>
                  <a:srgbClr val="000000"/>
                </a:solidFill>
              </a:rPr>
              <a:t>.</a:t>
            </a:r>
            <a:r>
              <a:rPr lang="en-US" sz="1300">
                <a:solidFill>
                  <a:srgbClr val="00000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300" u="sng">
                <a:solidFill>
                  <a:schemeClr val="hlink"/>
                </a:solidFill>
                <a:hlinkClick r:id="rId8"/>
              </a:rPr>
              <a:t>https://data.london.gov.uk/dataset/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Bouktif, S., Fiaz, A., Ouni, A., &amp; Serhani, M. A. (2018). Optimal deep learning lstm model for electric load forecasting using feature selection and genetic algorithm: Comparison with machine learning approaches. </a:t>
            </a:r>
            <a:r>
              <a:rPr i="1" lang="en-US" sz="1300">
                <a:solidFill>
                  <a:srgbClr val="222222"/>
                </a:solidFill>
                <a:highlight>
                  <a:srgbClr val="FFFFFF"/>
                </a:highlight>
              </a:rPr>
              <a:t>Energies</a:t>
            </a: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US" sz="1300">
                <a:solidFill>
                  <a:srgbClr val="222222"/>
                </a:solidFill>
                <a:highlight>
                  <a:srgbClr val="FFFFFF"/>
                </a:highlight>
              </a:rPr>
              <a:t>11</a:t>
            </a: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(7), 1636.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268" name="Google Shape;268;p9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Perry Huang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1" type="ftr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Yiqiu Song and Perry Huang</a:t>
            </a:r>
            <a:endParaRPr/>
          </a:p>
        </p:txBody>
      </p:sp>
      <p:sp>
        <p:nvSpPr>
          <p:cNvPr id="276" name="Google Shape;276;p12"/>
          <p:cNvSpPr txBox="1"/>
          <p:nvPr>
            <p:ph idx="1" type="body"/>
          </p:nvPr>
        </p:nvSpPr>
        <p:spPr>
          <a:xfrm>
            <a:off x="2632264" y="1770116"/>
            <a:ext cx="6907212" cy="3021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4800"/>
              <a:t>Thank You</a:t>
            </a:r>
            <a:endParaRPr sz="4800"/>
          </a:p>
        </p:txBody>
      </p:sp>
      <p:sp>
        <p:nvSpPr>
          <p:cNvPr id="277" name="Google Shape;277;p12"/>
          <p:cNvSpPr txBox="1"/>
          <p:nvPr>
            <p:ph idx="12" type="sldNum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Illinois">
      <a:dk1>
        <a:srgbClr val="12284B"/>
      </a:dk1>
      <a:lt1>
        <a:srgbClr val="FFFFFF"/>
      </a:lt1>
      <a:dk2>
        <a:srgbClr val="FF542E"/>
      </a:dk2>
      <a:lt2>
        <a:srgbClr val="FFFFFF"/>
      </a:lt2>
      <a:accent1>
        <a:srgbClr val="FF542E"/>
      </a:accent1>
      <a:accent2>
        <a:srgbClr val="12284B"/>
      </a:accent2>
      <a:accent3>
        <a:srgbClr val="FCB316"/>
      </a:accent3>
      <a:accent4>
        <a:srgbClr val="006130"/>
      </a:accent4>
      <a:accent5>
        <a:srgbClr val="007E8E"/>
      </a:accent5>
      <a:accent6>
        <a:srgbClr val="5C0E41"/>
      </a:accent6>
      <a:hlink>
        <a:srgbClr val="1D58A7"/>
      </a:hlink>
      <a:folHlink>
        <a:srgbClr val="C8411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2019-04-04T19:20:28Z</dcterms:created>
</cp:coreProperties>
</file>